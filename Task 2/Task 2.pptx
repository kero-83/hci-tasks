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 snapToGrid="0" snapToObjects="1">
      <p:cViewPr varScale="1">
        <p:scale>
          <a:sx n="93" d="100"/>
          <a:sy n="93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 idx="2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dt" idx="10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9" name="Object"/>
          <p:cNvSpPr>
            <a:spLocks noGrp="1"/>
          </p:cNvSpPr>
          <p:nvPr>
            <p:ph type="sldImg" idx="3"/>
          </p:nvPr>
        </p:nvSpPr>
        <p:spPr>
          <a:xfrm rot="0">
            <a:off x="685800" y="1143000"/>
            <a:ext cx="5486400" cy="30861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1" name="Text box"/>
          <p:cNvSpPr>
            <a:spLocks noGrp="1"/>
          </p:cNvSpPr>
          <p:nvPr>
            <p:ph type="ftr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1361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1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2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3" name="Object"/>
          <p:cNvSpPr>
            <a:spLocks noGrp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911028216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2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35" name="Object"/>
          <p:cNvSpPr>
            <a:spLocks noGrp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36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7" name="Rectangles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92549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3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47" name="Object"/>
          <p:cNvSpPr>
            <a:spLocks noGrp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48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9" name="Rectangles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736901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4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55" name="Object"/>
          <p:cNvSpPr>
            <a:spLocks noGrp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6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7" name="Rectangles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221766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5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63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4" name="Object"/>
          <p:cNvSpPr>
            <a:spLocks noGrp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1229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" name="Text box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29975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222541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08895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228092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54659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853569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3984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50751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23329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707090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951032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25" name="Text box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endParaRPr lang="zh-CN" altLang="en-US"/>
          </a:p>
        </p:txBody>
      </p:sp>
      <p:sp>
        <p:nvSpPr>
          <p:cNvPr id="26" name="Text box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27" name="Text box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28" name="Text box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39515"/>
      </p:ext>
    </p:extLst>
  </p:cSld>
  <p:clrMapOvr>
    <a:masterClrMapping/>
  </p:clrMapOvr>
  <p:hf sldNum="0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9" name="Text box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40" name="Text box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663606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itchFamily="0" charset="0"/>
              <a:buChar char="•"/>
            </a:pP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65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jpg"/><Relationship Id="rId2" Type="http://schemas.openxmlformats.org/officeDocument/2006/relationships/image" Target="../media/2.jp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3.jpg"/><Relationship Id="rId2" Type="http://schemas.openxmlformats.org/officeDocument/2006/relationships/image" Target="../media/2.jp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.jp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3.jpg"/><Relationship Id="rId2" Type="http://schemas.openxmlformats.org/officeDocument/2006/relationships/image" Target="../media/2.jp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s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9" name="Rectangles"/>
          <p:cNvSpPr>
            <a:spLocks/>
          </p:cNvSpPr>
          <p:nvPr/>
        </p:nvSpPr>
        <p:spPr>
          <a:xfrm rot="0">
            <a:off x="6023674" y="2400904"/>
            <a:ext cx="6168327" cy="129154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0" cap="none" spc="0" baseline="0">
                <a:solidFill>
                  <a:srgbClr val="0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Human Computer Interfaces (HCI)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0" name="Rectangles"/>
          <p:cNvSpPr>
            <a:spLocks/>
          </p:cNvSpPr>
          <p:nvPr/>
        </p:nvSpPr>
        <p:spPr>
          <a:xfrm rot="0">
            <a:off x="6604860" y="4118634"/>
            <a:ext cx="5005951" cy="7581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0" cap="none" spc="0" baseline="0">
                <a:solidFill>
                  <a:srgbClr val="C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E</a:t>
            </a:r>
            <a:r>
              <a:rPr lang="en-US" altLang="zh-CN" sz="4400" b="1" i="0" u="none" strike="noStrike" kern="0" cap="none" spc="0" baseline="0">
                <a:solidFill>
                  <a:srgbClr val="C0000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</a:t>
            </a:r>
            <a:r>
              <a:rPr lang="en-US" altLang="zh-CN" sz="4400" b="1" i="0" u="none" strike="noStrike" kern="0" cap="none" spc="0" baseline="0">
                <a:solidFill>
                  <a:srgbClr val="C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G Task 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ftr"/>
          </p:nvPr>
        </p:nvSpPr>
        <p:spPr>
          <a:xfrm rot="0">
            <a:off x="7339647" y="6293526"/>
            <a:ext cx="4640451" cy="38541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Faculty of Computer and Information Sciences- 2026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5094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s"/>
          <p:cNvPicPr>
            <a:picLocks/>
          </p:cNvPicPr>
          <p:nvPr/>
        </p:nvPicPr>
        <p:blipFill>
          <a:blip r:embed="rId1" cstate="print"/>
          <a:srcRect r="8388"/>
          <a:stretch>
            <a:fillRect/>
          </a:stretch>
        </p:blipFill>
        <p:spPr>
          <a:xfrm rot="0">
            <a:off x="0" y="92988"/>
            <a:ext cx="12192000" cy="6765011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0" name="Text box"/>
          <p:cNvSpPr>
            <a:spLocks noGrp="1"/>
          </p:cNvSpPr>
          <p:nvPr>
            <p:ph type="ftr"/>
          </p:nvPr>
        </p:nvSpPr>
        <p:spPr>
          <a:xfrm rot="0">
            <a:off x="0" y="6263362"/>
            <a:ext cx="5151895" cy="5016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Faculty of Computer and Information Sciences- 2026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31" name="Rectangles"/>
          <p:cNvSpPr>
            <a:spLocks noGrp="1"/>
          </p:cNvSpPr>
          <p:nvPr>
            <p:ph type="sldNum"/>
          </p:nvPr>
        </p:nvSpPr>
        <p:spPr>
          <a:xfrm rot="0">
            <a:off x="11598729" y="6263362"/>
            <a:ext cx="458491" cy="5016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2</a:t>
            </a:fld>
            <a:endParaRPr lang="zh-CN" altLang="en-US" sz="16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32" name="Rectangles"/>
          <p:cNvSpPr>
            <a:spLocks/>
          </p:cNvSpPr>
          <p:nvPr/>
        </p:nvSpPr>
        <p:spPr>
          <a:xfrm rot="0">
            <a:off x="729712" y="390742"/>
            <a:ext cx="10515600" cy="133968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sng" strike="noStrike" kern="0" cap="none" spc="0" baseline="0">
                <a:solidFill>
                  <a:srgbClr val="C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IMPORTANT NOTES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3" name="Rectangles"/>
          <p:cNvSpPr>
            <a:spLocks/>
          </p:cNvSpPr>
          <p:nvPr/>
        </p:nvSpPr>
        <p:spPr>
          <a:xfrm rot="0">
            <a:off x="321498" y="1730432"/>
            <a:ext cx="10923813" cy="43513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 pitchFamily="0" charset="0"/>
              <a:buChar char="•"/>
            </a:pPr>
            <a:r>
              <a:rPr lang="en-US" altLang="zh-CN" sz="2800" b="0" i="0" u="none" strike="noStrike" kern="0" cap="none" spc="0" baseline="0">
                <a:solidFill>
                  <a:srgbClr val="0070C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This work is to be completed individually (each student on their own).</a:t>
            </a:r>
            <a:endParaRPr lang="en-US" altLang="zh-CN" sz="2800" b="0" i="0" u="none" strike="noStrike" kern="0" cap="none" spc="0" baseline="0">
              <a:solidFill>
                <a:srgbClr val="0070C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 pitchFamily="0" charset="0"/>
              <a:buChar char="•"/>
            </a:pPr>
            <a:r>
              <a:rPr lang="en-US" altLang="zh-CN" sz="2800" b="0" i="0" u="none" strike="noStrike" kern="0" cap="none" spc="0" baseline="0">
                <a:solidFill>
                  <a:srgbClr val="0070C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The work must be submitted next week.</a:t>
            </a:r>
            <a:endParaRPr lang="en-US" altLang="zh-CN" sz="2800" b="0" i="0" u="none" strike="noStrike" kern="0" cap="none" spc="0" baseline="0">
              <a:solidFill>
                <a:srgbClr val="0070C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 pitchFamily="0" charset="0"/>
              <a:buChar char="•"/>
            </a:pPr>
            <a:r>
              <a:rPr lang="en-US" altLang="zh-CN" sz="2800" b="0" i="0" u="none" strike="noStrike" kern="0" cap="none" spc="0" baseline="0">
                <a:solidFill>
                  <a:srgbClr val="0070C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Each student must come and submit the work in their own lab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070C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    “Attending or submitting in any other lab is prohibited”.</a:t>
            </a:r>
            <a:endParaRPr lang="en-US" altLang="zh-CN" sz="2800" b="0" i="0" u="none" strike="noStrike" kern="0" cap="none" spc="0" baseline="0">
              <a:solidFill>
                <a:srgbClr val="0070C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 pitchFamily="0" charset="0"/>
              <a:buChar char="•"/>
            </a:pPr>
            <a:r>
              <a:rPr lang="en-US" altLang="zh-CN" sz="2800" b="0" i="0" u="none" strike="noStrike" kern="0" cap="none" spc="0" baseline="0">
                <a:solidFill>
                  <a:srgbClr val="0070C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The provided code will be discussed, so it is essential to understand every part of it.</a:t>
            </a:r>
            <a:endParaRPr lang="zh-CN" altLang="en-US" sz="3200" b="0" i="0" u="none" strike="noStrike" kern="0" cap="none" spc="0" baseline="0">
              <a:solidFill>
                <a:srgbClr val="0070C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pic>
        <p:nvPicPr>
          <p:cNvPr id="34" name="Images"/>
          <p:cNvPicPr>
            <a:picLocks/>
          </p:cNvPicPr>
          <p:nvPr/>
        </p:nvPicPr>
        <p:blipFill>
          <a:blip r:embed="rId2" cstate="print"/>
          <a:srcRect t="59257" b="5699" l="73127" r="952"/>
          <a:stretch>
            <a:fillRect/>
          </a:stretch>
        </p:blipFill>
        <p:spPr>
          <a:xfrm rot="10800000">
            <a:off x="0" y="-229516"/>
            <a:ext cx="2628901" cy="2011493"/>
          </a:xfrm>
          <a:prstGeom prst="rect"/>
          <a:noFill/>
          <a:ln w="12700" cmpd="sng" cap="flat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83076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s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42" name="Text box"/>
          <p:cNvSpPr>
            <a:spLocks noGrp="1"/>
          </p:cNvSpPr>
          <p:nvPr>
            <p:ph type="ftr"/>
          </p:nvPr>
        </p:nvSpPr>
        <p:spPr>
          <a:xfrm rot="0">
            <a:off x="-1" y="6472391"/>
            <a:ext cx="4718957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Faculty of Computer and Information Sciences- 2026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43" name="Rectangles"/>
          <p:cNvSpPr>
            <a:spLocks noGrp="1"/>
          </p:cNvSpPr>
          <p:nvPr>
            <p:ph type="sldNum"/>
          </p:nvPr>
        </p:nvSpPr>
        <p:spPr>
          <a:xfrm rot="0">
            <a:off x="9066693" y="6384853"/>
            <a:ext cx="2743199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3</a:t>
            </a:fld>
            <a:endParaRPr lang="zh-CN" altLang="en-US" sz="16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44" name="Rectangles"/>
          <p:cNvSpPr>
            <a:spLocks/>
          </p:cNvSpPr>
          <p:nvPr/>
        </p:nvSpPr>
        <p:spPr>
          <a:xfrm rot="0">
            <a:off x="3521502" y="3845374"/>
            <a:ext cx="4471861" cy="114300"/>
          </a:xfrm>
          <a:prstGeom prst="rect"/>
          <a:solidFill>
            <a:srgbClr val="0070C0"/>
          </a:solidFill>
          <a:ln w="12700" cmpd="sng" cap="flat">
            <a:noFill/>
            <a:prstDash val="solid"/>
            <a:round/>
          </a:ln>
          <a:effectLst>
            <a:outerShdw sx="100000" sy="100000" algn="ctr" rotWithShape="0" blurRad="57150" dist="19050" dir="5400000">
              <a:srgbClr val="000000">
                <a:alpha val="62745"/>
              </a:srgbClr>
            </a:outerShdw>
          </a:effectLst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FFFFFF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45" name="Rectangles"/>
          <p:cNvSpPr>
            <a:spLocks/>
          </p:cNvSpPr>
          <p:nvPr/>
        </p:nvSpPr>
        <p:spPr>
          <a:xfrm rot="0">
            <a:off x="4388304" y="2838946"/>
            <a:ext cx="3415392" cy="99151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0" b="1" i="0" u="none" strike="noStrike" kern="0" cap="none" spc="0" baseline="0">
                <a:solidFill>
                  <a:srgbClr val="C00000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Task </a:t>
            </a:r>
            <a:r>
              <a:rPr lang="en-US" altLang="zh-CN" sz="6600" b="1" i="0" u="none" strike="noStrike" kern="0" cap="none" spc="0" baseline="0">
                <a:solidFill>
                  <a:srgbClr val="C0000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46" name="Images"/>
          <p:cNvPicPr>
            <a:picLocks/>
          </p:cNvPicPr>
          <p:nvPr/>
        </p:nvPicPr>
        <p:blipFill>
          <a:blip r:embed="rId2" cstate="print"/>
          <a:srcRect t="9246" b="5699" l="73127" r="952"/>
          <a:stretch>
            <a:fillRect/>
          </a:stretch>
        </p:blipFill>
        <p:spPr>
          <a:xfrm rot="10800000">
            <a:off x="0" y="-38022"/>
            <a:ext cx="3449665" cy="5753936"/>
          </a:xfrm>
          <a:prstGeom prst="rect"/>
          <a:noFill/>
          <a:ln w="12700" cmpd="sng" cap="flat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4586799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"/>
          <p:cNvSpPr>
            <a:spLocks noGrp="1"/>
          </p:cNvSpPr>
          <p:nvPr>
            <p:ph type="ftr"/>
          </p:nvPr>
        </p:nvSpPr>
        <p:spPr>
          <a:xfrm rot="0">
            <a:off x="-1" y="6488719"/>
            <a:ext cx="4718957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Faculty of Computer and Information Sciences- 2026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51" name="Rectangles"/>
          <p:cNvSpPr>
            <a:spLocks noGrp="1"/>
          </p:cNvSpPr>
          <p:nvPr>
            <p:ph type="sldNum"/>
          </p:nvPr>
        </p:nvSpPr>
        <p:spPr>
          <a:xfrm rot="0">
            <a:off x="9120013" y="641750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4</a:t>
            </a:fld>
            <a:endParaRPr lang="zh-CN" altLang="en-US" sz="16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52" name="Rectangles"/>
          <p:cNvSpPr>
            <a:spLocks/>
          </p:cNvSpPr>
          <p:nvPr/>
        </p:nvSpPr>
        <p:spPr>
          <a:xfrm rot="0">
            <a:off x="12028714" y="-81644"/>
            <a:ext cx="163286" cy="6939643"/>
          </a:xfrm>
          <a:prstGeom prst="rect"/>
          <a:solidFill>
            <a:srgbClr val="0070C0"/>
          </a:solidFill>
          <a:ln w="12700" cmpd="sng" cap="flat">
            <a:solidFill>
              <a:srgbClr val="4472C4"/>
            </a:solidFill>
            <a:prstDash val="solid"/>
            <a:miter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FFFFFF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53" name="Rectangles"/>
          <p:cNvSpPr>
            <a:spLocks/>
          </p:cNvSpPr>
          <p:nvPr/>
        </p:nvSpPr>
        <p:spPr>
          <a:xfrm rot="0">
            <a:off x="276897" y="265524"/>
            <a:ext cx="11751816" cy="60921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sng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Data</a:t>
            </a:r>
            <a:endParaRPr lang="en-US" altLang="zh-CN" sz="2800" b="1" i="0" u="sng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Two signal files “ECG_Ali, ECG_Mohamed”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Text file as Test signal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sng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sng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Requirements </a:t>
            </a:r>
            <a:endParaRPr lang="en-US" altLang="zh-CN" sz="2800" b="1" i="0" u="sng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1- Detection of 3 fiducial points: QRS for each signal and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save it feature Map (QR interval,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RS interval,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QS slope)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2- Detection of Non-fiducial points: DWT and AC+DCT for each signal save it feature Map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3- Saving the feature Maps as excel file </a:t>
            </a:r>
            <a:endParaRPr lang="en-US" altLang="zh-CN" sz="2800" b="1" i="0" u="none" strike="noStrike" kern="0" cap="none" spc="0" baseline="0"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latin typeface="Calibri" pitchFamily="0" charset="0"/>
                <a:ea typeface="Calibri" pitchFamily="0" charset="0"/>
                <a:cs typeface="Calibri" pitchFamily="0" charset="0"/>
              </a:rPr>
              <a:t>4- Select the most distinctive feature to Identify the test signal based on two signal files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54" name="Images"/>
          <p:cNvPicPr>
            <a:picLocks/>
          </p:cNvPicPr>
          <p:nvPr/>
        </p:nvPicPr>
        <p:blipFill>
          <a:blip r:embed="rId1" cstate="print"/>
          <a:srcRect t="40427" b="5698" l="73127" r="952"/>
          <a:stretch>
            <a:fillRect/>
          </a:stretch>
        </p:blipFill>
        <p:spPr>
          <a:xfrm rot="10800000">
            <a:off x="10491611" y="9873"/>
            <a:ext cx="1518557" cy="1786269"/>
          </a:xfrm>
          <a:prstGeom prst="rect"/>
          <a:noFill/>
          <a:ln w="12700" cmpd="sng" cap="flat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1274424933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s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-16326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59" name="Text box"/>
          <p:cNvSpPr>
            <a:spLocks noGrp="1"/>
          </p:cNvSpPr>
          <p:nvPr>
            <p:ph type="ftr"/>
          </p:nvPr>
        </p:nvSpPr>
        <p:spPr>
          <a:xfrm rot="0">
            <a:off x="0" y="6472391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Faculty of Computer and Information Sciences- 2025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60" name="Rectangles"/>
          <p:cNvSpPr>
            <a:spLocks noGrp="1"/>
          </p:cNvSpPr>
          <p:nvPr>
            <p:ph type="sldNum"/>
          </p:nvPr>
        </p:nvSpPr>
        <p:spPr>
          <a:xfrm rot="0">
            <a:off x="8936064" y="6472391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5</a:t>
            </a:fld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pic>
        <p:nvPicPr>
          <p:cNvPr id="61" name="Images"/>
          <p:cNvPicPr>
            <a:picLocks/>
          </p:cNvPicPr>
          <p:nvPr/>
        </p:nvPicPr>
        <p:blipFill>
          <a:blip r:embed="rId2" cstate="print"/>
          <a:srcRect b="3809" r="2366"/>
          <a:stretch>
            <a:fillRect/>
          </a:stretch>
        </p:blipFill>
        <p:spPr>
          <a:xfrm rot="0">
            <a:off x="160564" y="261257"/>
            <a:ext cx="11903529" cy="659674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62" name="Rectangles"/>
          <p:cNvSpPr>
            <a:spLocks/>
          </p:cNvSpPr>
          <p:nvPr/>
        </p:nvSpPr>
        <p:spPr>
          <a:xfrm rot="0">
            <a:off x="2979967" y="1905684"/>
            <a:ext cx="6098719" cy="30917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0" b="0" i="0" u="none" strike="noStrike" kern="0" cap="none" spc="0" baseline="0">
                <a:solidFill>
                  <a:srgbClr val="008FFA"/>
                </a:solidFill>
                <a:latin typeface="Pinyon Script" pitchFamily="0" charset="0"/>
                <a:ea typeface="Pinyon Script" pitchFamily="0" charset="0"/>
                <a:cs typeface="Pinyon Script" pitchFamily="0" charset="0"/>
                <a:sym typeface="Pinyon Script" pitchFamily="0" charset="0"/>
              </a:rPr>
              <a:t>Any Questions ?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0" b="0" i="0" u="none" strike="noStrike" kern="0" cap="none" spc="0" baseline="0">
                <a:solidFill>
                  <a:srgbClr val="C00000"/>
                </a:solidFill>
                <a:latin typeface="Pinyon Script" pitchFamily="0" charset="0"/>
                <a:ea typeface="Pinyon Script" pitchFamily="0" charset="0"/>
                <a:cs typeface="Pinyon Script" pitchFamily="0" charset="0"/>
                <a:sym typeface="Pinyon Script" pitchFamily="0" charset="0"/>
              </a:rPr>
              <a:t>Thank You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30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</TotalTime>
  <Application>Honor_Office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ok</dc:creator>
  <cp:lastModifiedBy>HONOR Docs</cp:lastModifiedBy>
  <cp:revision>0</cp:revision>
  <dcterms:created xsi:type="dcterms:W3CDTF">2025-02-15T19:22:28Z</dcterms:created>
  <dcterms:modified xsi:type="dcterms:W3CDTF">2026-04-13T14:48:33Z</dcterms:modified>
</cp:coreProperties>
</file>
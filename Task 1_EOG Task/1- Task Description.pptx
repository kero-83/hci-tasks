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01" r:id="rId4"/>
    <p:sldId id="268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BF"/>
    <a:srgbClr val="008FFA"/>
    <a:srgbClr val="FF99FF"/>
    <a:srgbClr val="F3A785"/>
    <a:srgbClr val="F47628"/>
    <a:srgbClr val="F5B599"/>
    <a:srgbClr val="F5833D"/>
    <a:srgbClr val="FFAFCF"/>
    <a:srgbClr val="74BAF4"/>
    <a:srgbClr val="8AC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21" autoAdjust="0"/>
  </p:normalViewPr>
  <p:slideViewPr>
    <p:cSldViewPr snapToGrid="0">
      <p:cViewPr varScale="1">
        <p:scale>
          <a:sx n="59" d="100"/>
          <a:sy n="59" d="100"/>
        </p:scale>
        <p:origin x="1074" y="7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F7954-AF22-400A-8AE2-013CC25FB02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CE270-E275-407E-912C-8CDC8D184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0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CE270-E275-407E-912C-8CDC8D184D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76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CE270-E275-407E-912C-8CDC8D184D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1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CE270-E275-407E-912C-8CDC8D184D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3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317D-8DBB-2EDE-4057-965CB875C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333E3-84D4-F197-7666-63372E42D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47B7-6C1E-014F-FFFD-BA232120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A6CF-408C-465E-8E89-35B124F6DF41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7AD7-770E-A3AC-CF3F-60740FB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02BD-363B-DB21-D752-E12B8E08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DCFD-323F-29C3-CF14-98B5EAE8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9269-DDB2-7702-4786-46EE538A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305F-F842-62B1-B1CB-3922C95E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B072-4E58-4280-961B-A8A90F5BD6E1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85C13-AB70-9229-7DC1-C5F19988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D9665-CC10-563C-50D3-F1D824C5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8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2074-4D30-19DF-BB0A-CF82CC8F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06D66-C631-67C4-048C-53336FAD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D39FC-5C0D-BC17-9141-20E797BC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1C70E-37B5-41D2-ADB0-6643A20F9269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E3F5-4F76-DEC0-B4C8-EA0E66B2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6BCBC-3432-8F7D-7270-9EE3D2FF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B23C-53FC-F863-DC4E-1FFF356B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08A1D-592E-5151-565A-E3EF110BD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9810B-B2DC-6BEB-AFF7-854AB9747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10381-622E-4FEC-92B5-9D2CB9E5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16591-7EEC-42BB-96A4-CA81A4D7DC16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BA2B5-D007-6BC3-D400-EF27D5B7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7FF08-93F1-438E-0434-222558DB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8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5508-DDC4-305E-8F8F-D421A576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2B323-A287-59F8-2FCD-F41358B44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28D00-E3A6-9568-316E-C5445AF3A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AA623-0D6A-CA0A-E5F6-02F2143AE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657C1-8DD7-432A-8679-AA85144C4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CDFC7-F4D6-0CB2-9C32-7ACCFE4D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CC708-FD49-4FA3-AC89-BA3ACF66D513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1BC11-DD9D-812C-4B3A-A7C238FB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3B2D1-DE02-6E4E-45D7-F3BF0489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1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7498-9C00-3FF6-65E1-71C5E87A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B9A8A-C572-DCE3-7F26-E91CA068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A3E5-FB22-4EDC-82DA-77B27DB12669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1DB5F-BCBB-FE16-385D-798F4002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5FE69-753B-B021-3E14-8E87708C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7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810B7-BF49-1C38-6869-9DDE0748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F51F-2B60-4104-AEE2-5A458F761016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E2964-3C4F-7EC6-8C74-B429B0D5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405D2-CA77-181A-021C-4CD27F74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0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6947-94F6-A750-EF72-FEB8F174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20DF-9074-55EE-C144-864164B22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2C4AD-B189-9743-E83D-D922A51F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6BB32-802D-1E5B-D330-F69DBD6F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097-F1BF-4DCA-BA3C-68574C81BEB0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B19B2-E34A-4F95-A9A5-51559E85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0E084-1623-F2A5-DD6D-09B32538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4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E2EA-6AED-4E18-A7B7-98C31E71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D475E-0BF1-EF81-2EA3-C8882D3E8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D2F12-6FC9-E786-14B5-FDBC24A0A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F5C81-5CC1-19C9-F8AD-EE9E8481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7E909-09D6-462E-8452-D3765FEDEBA4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B2BF3-1C4F-8CBE-D552-8A7E4FA7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AB88-F446-CF2C-8FC9-CC55B644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030C-EC5D-C224-5AB9-277BF1F0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00B64-FB9B-F340-8814-A882C33AE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AEA6B-5C33-DB4E-82A8-3D214F63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81B3-CD51-4786-931F-A79F4FC542C6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5AD8C-AA59-5CCA-FE69-575167BB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55FC4-10A9-834B-7A38-F01BFF67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4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441D9-665E-CC8B-952B-8E0E5741F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1B0D0-2C2E-BA8C-9297-93144CFE8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1C767-E86A-65B3-1A63-6326D04B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A82A-9882-4388-A190-78CA87C554E5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FE022-B15A-55EE-08B8-64C2FCDC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3988A-E768-1B0F-EECA-8C5CF9A6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5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01A6D-054C-CE39-E0F4-B3A51248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41C4D-60DC-1317-115F-B19202C65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EDED-15F0-E07D-0F9A-084386C78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453D9-5043-4E91-B2CD-AE6E72DC558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A6AF4-F714-CA07-1D4E-E12800101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Computer and Information Sciences- 2025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340F7-302E-2536-0EA0-DB8336D9E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B04EB-EB34-46FC-8295-E07D4BFEC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5EE27-3894-BDC3-D268-7FF92FB6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A08C92-1F53-D24C-9CA1-4092A1F28510}"/>
              </a:ext>
            </a:extLst>
          </p:cNvPr>
          <p:cNvSpPr txBox="1"/>
          <p:nvPr/>
        </p:nvSpPr>
        <p:spPr>
          <a:xfrm>
            <a:off x="6023674" y="2400904"/>
            <a:ext cx="6168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Computer Interfaces (HCI)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73E60-54DE-BFB5-4711-00B000AD45A5}"/>
              </a:ext>
            </a:extLst>
          </p:cNvPr>
          <p:cNvSpPr txBox="1"/>
          <p:nvPr/>
        </p:nvSpPr>
        <p:spPr>
          <a:xfrm>
            <a:off x="6604861" y="4118634"/>
            <a:ext cx="5005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EOG Task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3DC28C-182D-FF2E-9DC1-A30728FB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39647" y="6293526"/>
            <a:ext cx="4640451" cy="385413"/>
          </a:xfrm>
        </p:spPr>
        <p:txBody>
          <a:bodyPr/>
          <a:lstStyle/>
          <a:p>
            <a:r>
              <a:rPr lang="en-US" sz="1600" dirty="0"/>
              <a:t>Faculty of Computer and Information Sciences- 2026</a:t>
            </a:r>
          </a:p>
        </p:txBody>
      </p:sp>
    </p:spTree>
    <p:extLst>
      <p:ext uri="{BB962C8B-B14F-4D97-AF65-F5344CB8AC3E}">
        <p14:creationId xmlns:p14="http://schemas.microsoft.com/office/powerpoint/2010/main" val="187327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E88474-1BB5-1227-36B5-6FB32C381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88"/>
          <a:stretch/>
        </p:blipFill>
        <p:spPr>
          <a:xfrm>
            <a:off x="0" y="92988"/>
            <a:ext cx="12192000" cy="676501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F4B17-AC6B-0EE1-C3F8-D5EBA3C2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263362"/>
            <a:ext cx="5151895" cy="501650"/>
          </a:xfrm>
        </p:spPr>
        <p:txBody>
          <a:bodyPr/>
          <a:lstStyle/>
          <a:p>
            <a:r>
              <a:rPr lang="en-US" sz="1600" dirty="0"/>
              <a:t>Faculty of Computer and Information Sciences- 2026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9E8FC-FC05-AA1D-7CE8-9BECFB2C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8729" y="6263362"/>
            <a:ext cx="458492" cy="501650"/>
          </a:xfrm>
        </p:spPr>
        <p:txBody>
          <a:bodyPr/>
          <a:lstStyle/>
          <a:p>
            <a:fld id="{3C0B04EB-EB34-46FC-8295-E07D4BFEC2A3}" type="slidenum">
              <a:rPr lang="en-US" sz="1600" smtClean="0"/>
              <a:t>2</a:t>
            </a:fld>
            <a:endParaRPr lang="en-US" sz="1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08DCA7-FB22-5DD3-06FE-7D8F02C72980}"/>
              </a:ext>
            </a:extLst>
          </p:cNvPr>
          <p:cNvSpPr txBox="1">
            <a:spLocks/>
          </p:cNvSpPr>
          <p:nvPr/>
        </p:nvSpPr>
        <p:spPr>
          <a:xfrm>
            <a:off x="729712" y="390743"/>
            <a:ext cx="10515600" cy="1339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IMPORTANT NOTES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CB11E88-35CD-0C0A-50AA-6846F7289D88}"/>
              </a:ext>
            </a:extLst>
          </p:cNvPr>
          <p:cNvSpPr txBox="1">
            <a:spLocks/>
          </p:cNvSpPr>
          <p:nvPr/>
        </p:nvSpPr>
        <p:spPr>
          <a:xfrm>
            <a:off x="321498" y="1730432"/>
            <a:ext cx="109238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</a:rPr>
              <a:t>This work is to be completed individually (each student on their own).</a:t>
            </a:r>
            <a:endParaRPr lang="ar-EG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</a:rPr>
              <a:t>The work must be submitted next week.</a:t>
            </a:r>
            <a:endParaRPr lang="ar-EG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rgbClr val="0070C0"/>
                </a:solidFill>
              </a:rPr>
              <a:t>Each student must come and submit the work in their own lab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70C0"/>
                </a:solidFill>
              </a:rPr>
              <a:t>    “Attending or submitting in any other lab is prohibited”.</a:t>
            </a:r>
            <a:endParaRPr lang="ar-EG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</a:rPr>
              <a:t>The provided code will be discussed, so it is essential to understand every part of it.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597138-6E43-8DBC-E374-2B3DFAF08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7" t="59257" r="952" b="5699"/>
          <a:stretch>
            <a:fillRect/>
          </a:stretch>
        </p:blipFill>
        <p:spPr>
          <a:xfrm rot="10800000">
            <a:off x="0" y="-229517"/>
            <a:ext cx="2628901" cy="201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29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4CE2-F551-2629-AEF2-BEB6B46A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E7D36B7-BF18-DA61-E0D5-37423ABB4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BBA9C9-189E-4DAB-783D-AC218B83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72392"/>
            <a:ext cx="4718957" cy="365125"/>
          </a:xfrm>
        </p:spPr>
        <p:txBody>
          <a:bodyPr/>
          <a:lstStyle/>
          <a:p>
            <a:r>
              <a:rPr lang="en-US" sz="1600" dirty="0"/>
              <a:t>Faculty of Computer and Information Sciences- 2026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A00A0-ABAB-10AD-749F-C0295161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693" y="6384853"/>
            <a:ext cx="2743200" cy="365125"/>
          </a:xfrm>
        </p:spPr>
        <p:txBody>
          <a:bodyPr/>
          <a:lstStyle/>
          <a:p>
            <a:fld id="{3C0B04EB-EB34-46FC-8295-E07D4BFEC2A3}" type="slidenum">
              <a:rPr lang="en-US" sz="1600" smtClean="0"/>
              <a:t>3</a:t>
            </a:fld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326D1-6139-D6EA-8872-7C68F6A9B831}"/>
              </a:ext>
            </a:extLst>
          </p:cNvPr>
          <p:cNvSpPr/>
          <p:nvPr/>
        </p:nvSpPr>
        <p:spPr>
          <a:xfrm>
            <a:off x="3521502" y="3845375"/>
            <a:ext cx="4471861" cy="114300"/>
          </a:xfrm>
          <a:prstGeom prst="rect">
            <a:avLst/>
          </a:prstGeom>
          <a:solidFill>
            <a:srgbClr val="0070C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B934C-5CA6-6F2C-421E-937E604EE7A8}"/>
              </a:ext>
            </a:extLst>
          </p:cNvPr>
          <p:cNvSpPr txBox="1"/>
          <p:nvPr/>
        </p:nvSpPr>
        <p:spPr>
          <a:xfrm>
            <a:off x="4388304" y="2838946"/>
            <a:ext cx="3415392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4CE89-5577-1ADE-EFC0-403EF5995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7" t="9246" r="952" b="5699"/>
          <a:stretch>
            <a:fillRect/>
          </a:stretch>
        </p:blipFill>
        <p:spPr>
          <a:xfrm rot="10800000">
            <a:off x="0" y="-38022"/>
            <a:ext cx="3449665" cy="57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78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242B-C071-9324-102F-E5331A7D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1985D1-BD4F-6274-458B-AD75AC37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88720"/>
            <a:ext cx="4718957" cy="365125"/>
          </a:xfrm>
        </p:spPr>
        <p:txBody>
          <a:bodyPr/>
          <a:lstStyle/>
          <a:p>
            <a:r>
              <a:rPr lang="en-US" sz="1600" dirty="0"/>
              <a:t>Faculty of Computer and Information Sciences- 2026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9D236-A713-A71C-2F5C-104D5668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0013" y="6417509"/>
            <a:ext cx="2743200" cy="365125"/>
          </a:xfrm>
        </p:spPr>
        <p:txBody>
          <a:bodyPr/>
          <a:lstStyle/>
          <a:p>
            <a:fld id="{3C0B04EB-EB34-46FC-8295-E07D4BFEC2A3}" type="slidenum">
              <a:rPr lang="en-US" sz="1600" smtClean="0"/>
              <a:t>4</a:t>
            </a:fld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0825C4-A112-1C81-DE30-DD1F4E211F02}"/>
              </a:ext>
            </a:extLst>
          </p:cNvPr>
          <p:cNvSpPr/>
          <p:nvPr/>
        </p:nvSpPr>
        <p:spPr>
          <a:xfrm>
            <a:off x="12028714" y="-81644"/>
            <a:ext cx="163286" cy="6939643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71B4-1678-9187-9987-EA3AA5D465CC}"/>
              </a:ext>
            </a:extLst>
          </p:cNvPr>
          <p:cNvSpPr txBox="1"/>
          <p:nvPr/>
        </p:nvSpPr>
        <p:spPr>
          <a:xfrm>
            <a:off x="276897" y="265524"/>
            <a:ext cx="11751817" cy="6001643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</a:pPr>
            <a:r>
              <a:rPr lang="en-US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&amp; Important Information</a:t>
            </a: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Horizontal Signals: Excel file. It contains 20 EOG signals as columns.</a:t>
            </a:r>
          </a:p>
          <a:p>
            <a:pPr marL="636588" indent="-179388">
              <a:buClr>
                <a:srgbClr val="FF93B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93BF"/>
                </a:solidFill>
              </a:rPr>
              <a:t>Each signal has 250 samples. </a:t>
            </a:r>
          </a:p>
          <a:p>
            <a:pPr marL="636588" indent="-179388">
              <a:buClr>
                <a:srgbClr val="FF93B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93BF"/>
                </a:solidFill>
              </a:rPr>
              <a:t>The sampling rate is 176 Hz.</a:t>
            </a:r>
          </a:p>
          <a:p>
            <a:pPr marL="457200">
              <a:buClr>
                <a:srgbClr val="002060"/>
              </a:buClr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Test Signal: Text File. It's a 250-sampled EOG signal file.</a:t>
            </a:r>
          </a:p>
          <a:p>
            <a:pPr>
              <a:buClr>
                <a:srgbClr val="0070C0"/>
              </a:buClr>
            </a:pPr>
            <a:endParaRPr lang="en-US" sz="2000" b="1" dirty="0">
              <a:solidFill>
                <a:srgbClr val="0070C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pPr>
              <a:buClr>
                <a:srgbClr val="0070C0"/>
              </a:buClr>
            </a:pPr>
            <a:r>
              <a:rPr lang="en-US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 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Apply the suitable pre-processing techniques.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Create the matrix features as an </a:t>
            </a:r>
            <a:r>
              <a:rPr lang="en-US" sz="2400" b="1" dirty="0">
                <a:solidFill>
                  <a:srgbClr val="0070C0"/>
                </a:solidFill>
              </a:rPr>
              <a:t>Excel file </a:t>
            </a:r>
            <a:r>
              <a:rPr lang="en-US" sz="2400" dirty="0">
                <a:solidFill>
                  <a:srgbClr val="0070C0"/>
                </a:solidFill>
              </a:rPr>
              <a:t>containing the following features for each signal:</a:t>
            </a:r>
          </a:p>
          <a:p>
            <a:pPr marL="636588" indent="-179388">
              <a:buClr>
                <a:srgbClr val="FF93B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93BF"/>
                </a:solidFill>
              </a:rPr>
              <a:t>Statistical features (mean, standard deviation). </a:t>
            </a:r>
          </a:p>
          <a:p>
            <a:pPr marL="636588" indent="-179388">
              <a:buClr>
                <a:srgbClr val="FF93B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93BF"/>
                </a:solidFill>
              </a:rPr>
              <a:t>Morphological feature (max peak amplitude value, AUC). </a:t>
            </a:r>
          </a:p>
          <a:p>
            <a:pPr marL="636588" indent="-179388">
              <a:buClr>
                <a:srgbClr val="FF93BF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93BF"/>
                </a:solidFill>
              </a:rPr>
              <a:t>Auto-regression features “3 coefficients.“</a:t>
            </a:r>
          </a:p>
          <a:p>
            <a:pPr marL="457200">
              <a:buClr>
                <a:srgbClr val="002060"/>
              </a:buClr>
            </a:pPr>
            <a:endParaRPr lang="en-US" dirty="0">
              <a:solidFill>
                <a:srgbClr val="002060"/>
              </a:solidFill>
            </a:endParaRPr>
          </a:p>
          <a:p>
            <a:pPr marL="342900" indent="-342900">
              <a:buClr>
                <a:srgbClr val="0070C0"/>
              </a:buClr>
              <a:buFont typeface="+mj-lt"/>
              <a:buAutoNum type="arabicPeriod" startAt="3"/>
            </a:pPr>
            <a:r>
              <a:rPr lang="en-US" sz="2400" dirty="0">
                <a:solidFill>
                  <a:srgbClr val="0070C0"/>
                </a:solidFill>
              </a:rPr>
              <a:t>Classify the test signal using </a:t>
            </a:r>
            <a:r>
              <a:rPr lang="en-US" sz="2400" b="1" dirty="0">
                <a:solidFill>
                  <a:srgbClr val="0070C0"/>
                </a:solidFill>
              </a:rPr>
              <a:t>Euclidean distance </a:t>
            </a:r>
            <a:r>
              <a:rPr lang="en-US" sz="2400" dirty="0">
                <a:solidFill>
                  <a:srgbClr val="0070C0"/>
                </a:solidFill>
              </a:rPr>
              <a:t>based on matrix features and the labeled horizontal signals.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B68F2-B7DB-870D-6CA9-B788EEFC9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7" t="40427" r="952" b="5698"/>
          <a:stretch>
            <a:fillRect/>
          </a:stretch>
        </p:blipFill>
        <p:spPr>
          <a:xfrm rot="10800000">
            <a:off x="10491612" y="9873"/>
            <a:ext cx="1518557" cy="178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3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008E8-4C15-739D-2EF8-E56B0C91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4D7A98D-DCB2-7CAC-AF7C-DAC81F6E7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327"/>
            <a:ext cx="12192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DECDFD-6571-AA54-28CB-3C6C2A9A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2392"/>
            <a:ext cx="4114800" cy="365125"/>
          </a:xfrm>
        </p:spPr>
        <p:txBody>
          <a:bodyPr/>
          <a:lstStyle/>
          <a:p>
            <a:r>
              <a:rPr lang="en-US" dirty="0"/>
              <a:t>Faculty of Computer and Information Sciences- 2025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94F-CD83-0753-986B-8010B6B1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6064" y="6472392"/>
            <a:ext cx="2743200" cy="365125"/>
          </a:xfrm>
        </p:spPr>
        <p:txBody>
          <a:bodyPr/>
          <a:lstStyle/>
          <a:p>
            <a:fld id="{3C0B04EB-EB34-46FC-8295-E07D4BFEC2A3}" type="slidenum">
              <a:rPr lang="en-US" smtClean="0"/>
              <a:t>5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A20BE-FF44-1B29-CE22-AEF5FE1DF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6" b="3809"/>
          <a:stretch/>
        </p:blipFill>
        <p:spPr>
          <a:xfrm>
            <a:off x="160564" y="261257"/>
            <a:ext cx="11903529" cy="6596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6755C1-F702-B3CE-8B27-DC46891E35D4}"/>
              </a:ext>
            </a:extLst>
          </p:cNvPr>
          <p:cNvSpPr txBox="1"/>
          <p:nvPr/>
        </p:nvSpPr>
        <p:spPr>
          <a:xfrm>
            <a:off x="2979967" y="1905684"/>
            <a:ext cx="60987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rgbClr val="008FFA"/>
                </a:solidFill>
                <a:latin typeface="Edwardian Script ITC" panose="030303020407070D0804" pitchFamily="66" charset="0"/>
              </a:rPr>
              <a:t>Any Questions ?</a:t>
            </a:r>
          </a:p>
          <a:p>
            <a:pPr algn="ctr"/>
            <a:r>
              <a:rPr lang="en-US" sz="6600" dirty="0">
                <a:solidFill>
                  <a:srgbClr val="C00000"/>
                </a:solidFill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6679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3490</TotalTime>
  <Words>231</Words>
  <Application>Microsoft Office PowerPoint</Application>
  <PresentationFormat>Widescreen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Edwardian Script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</dc:creator>
  <cp:lastModifiedBy>radwa reda hossieny mohamed</cp:lastModifiedBy>
  <cp:revision>59</cp:revision>
  <dcterms:created xsi:type="dcterms:W3CDTF">2025-02-15T19:22:28Z</dcterms:created>
  <dcterms:modified xsi:type="dcterms:W3CDTF">2026-03-09T22:34:45Z</dcterms:modified>
</cp:coreProperties>
</file>